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1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-177800" y="-230420"/>
            <a:ext cx="10828867" cy="1751695"/>
          </a:xfrm>
        </p:spPr>
        <p:txBody>
          <a:bodyPr/>
          <a:lstStyle/>
          <a:p>
            <a:r>
              <a:rPr lang="en-US" sz="3200" b="1" dirty="0">
                <a:solidFill>
                  <a:schemeClr val="tx2"/>
                </a:solidFill>
                <a:latin typeface="Garamond" panose="02020404030301010803" pitchFamily="18" charset="0"/>
              </a:rPr>
              <a:t>SEVA FIRST INNOVATION CHALLENGE 2026</a:t>
            </a:r>
            <a:endParaRPr lang="en-IN" sz="32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76656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b="0" sz="1600">
                <a:solidFill>
                  <a:srgbClr val="C00000"/>
                </a:solidFill>
                <a:latin typeface="Arial"/>
              </a:rPr>
              <a:t>[PS ID]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b="0" sz="1600">
                <a:solidFill>
                  <a:srgbClr val="C00000"/>
                </a:solidFill>
                <a:latin typeface="Arial"/>
              </a:rPr>
              <a:t>[PS Title]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b="0" sz="1600">
                <a:solidFill>
                  <a:srgbClr val="1A1A1A"/>
                </a:solidFill>
                <a:latin typeface="Arial"/>
              </a:rPr>
              <a:t>Surakshit Bharat (Theme 5)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b="0" sz="2000">
                <a:solidFill>
                  <a:srgbClr val="1A1A1A"/>
                </a:solidFill>
                <a:latin typeface="Arial"/>
              </a:rPr>
              <a:t>Software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b="0" sz="1600">
                <a:solidFill>
                  <a:srgbClr val="C00000"/>
                </a:solidFill>
                <a:latin typeface="Arial"/>
              </a:rPr>
              <a:t>[Team ID]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- </a:t>
            </a:r>
            <a:r>
              <a:rPr b="0" sz="1600">
                <a:solidFill>
                  <a:srgbClr val="C00000"/>
                </a:solidFill>
                <a:latin typeface="Arial"/>
              </a:rPr>
              <a:t>[Team Name]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File:Ministry of Education India.svg - Wikimedia Commons">
            <a:extLst>
              <a:ext uri="{FF2B5EF4-FFF2-40B4-BE49-F238E27FC236}">
                <a16:creationId xmlns:a16="http://schemas.microsoft.com/office/drawing/2014/main" id="{A4EA6F5A-C7A0-A6C6-3CC4-95D0B92FD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2957" y="83240"/>
            <a:ext cx="2199686" cy="10207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484F98-38F2-3E9C-7A8F-42DB1C313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666" y="2211520"/>
            <a:ext cx="4552950" cy="25561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" y="6356353"/>
            <a:ext cx="12191999" cy="503238"/>
          </a:xfrm>
          <a:prstGeom prst="rect">
            <a:avLst/>
          </a:pr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RAKSHA-PATH X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880" y="1783080"/>
            <a:ext cx="11887200" cy="502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504267" y="6362706"/>
            <a:ext cx="3623733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SEVA FIRST INNOVATION CHALLENGE 2026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5906" y="1023221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[Team Name]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D33717-05C9-27A9-A8CD-D761158F6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132" y="-6746"/>
            <a:ext cx="1670881" cy="938080"/>
          </a:xfrm>
          <a:prstGeom prst="rect">
            <a:avLst/>
          </a:prstGeom>
        </p:spPr>
      </p:pic>
      <p:pic>
        <p:nvPicPr>
          <p:cNvPr id="5" name="Picture 4" descr="File:Ministry of Education India.svg - Wikimedia Commons">
            <a:extLst>
              <a:ext uri="{FF2B5EF4-FFF2-40B4-BE49-F238E27FC236}">
                <a16:creationId xmlns:a16="http://schemas.microsoft.com/office/drawing/2014/main" id="{34521C67-2E60-0B0A-7182-149D6EC22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681" y="115936"/>
            <a:ext cx="1757087" cy="815398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2103120" y="1115568"/>
            <a:ext cx="8046720" cy="41148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ctr">
              <a:spcAft>
                <a:spcPts val="400"/>
              </a:spcAft>
            </a:pPr>
            <a:r>
              <a:rPr sz="1400" b="0" i="1">
                <a:solidFill>
                  <a:srgbClr val="1F3864"/>
                </a:solidFill>
                <a:latin typeface="Arial"/>
              </a:rPr>
              <a:t>Proof-of-Passability Emergency Intelligence Network  ·  “Every route needs evidence. Every rescue needs a safer path.”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365760" y="2395728"/>
            <a:ext cx="6903720" cy="36576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2E5597"/>
                </a:solidFill>
                <a:latin typeface="Arial"/>
              </a:rPr>
              <a:t>❖ </a:t>
            </a:r>
            <a:r>
              <a:rPr sz="1500" b="1" i="0">
                <a:solidFill>
                  <a:srgbClr val="2E5597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502920" y="2724912"/>
            <a:ext cx="6812280" cy="86868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164592" indent="-164592"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A decision-support platform for emergency control rooms that rates every road segment by the evidence behind it: recency, source trust, verification</a:t>
            </a:r>
          </a:p>
          <a:p>
            <a:pPr marL="164592" indent="-164592"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Evidence-aware routing for ambulances, fire tenders and rescue units, with alternatives, vehicle restrictions and field-verification tasks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365760" y="3621024"/>
            <a:ext cx="6903720" cy="36576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2E5597"/>
                </a:solidFill>
                <a:latin typeface="Arial"/>
              </a:rPr>
              <a:t>❖ </a:t>
            </a:r>
            <a:r>
              <a:rPr sz="1500" b="1" i="0">
                <a:solidFill>
                  <a:srgbClr val="2E5597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502920" y="3950208"/>
            <a:ext cx="6812280" cy="86868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164592" indent="-164592"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Navigation apps assume roads are open. In floods and landslides they are not, and the cost is lost rescue time</a:t>
            </a:r>
          </a:p>
          <a:p>
            <a:pPr marL="164592" indent="-164592"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Never routes through a confirmed block; when no adequately verified route exists it says so and proposes the nearest reachable meeting point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365760" y="4846320"/>
            <a:ext cx="6903720" cy="36576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2E5597"/>
                </a:solidFill>
                <a:latin typeface="Arial"/>
              </a:rPr>
              <a:t>❖ </a:t>
            </a:r>
            <a:r>
              <a:rPr sz="1500" b="1" i="0">
                <a:solidFill>
                  <a:srgbClr val="2E5597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502920" y="5175504"/>
            <a:ext cx="6812280" cy="86868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164592" indent="-164592"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Proof-of-Passability: evidence expires per hazard type (flood 2 h, fallen tree 12 h); “no report” is treated as Unknown, never “open”</a:t>
            </a:r>
          </a:p>
          <a:p>
            <a:pPr marL="164592" indent="-164592"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Transparent “Why this status?” trail instead of a black-box AI score; offline-first; humans make the final call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7635240" y="2395728"/>
            <a:ext cx="4206240" cy="384048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1" name="TextBox 15370"/>
          <p:cNvSpPr txBox="1"/>
          <p:nvPr/>
        </p:nvSpPr>
        <p:spPr>
          <a:xfrm>
            <a:off x="7818119" y="2505456"/>
            <a:ext cx="3840479" cy="3200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Every road gets an evidence-based status</a:t>
            </a:r>
          </a:p>
        </p:txBody>
      </p:sp>
      <p:sp>
        <p:nvSpPr>
          <p:cNvPr id="15372" name="Oval 15371"/>
          <p:cNvSpPr/>
          <p:nvPr/>
        </p:nvSpPr>
        <p:spPr>
          <a:xfrm>
            <a:off x="7818119" y="2953512"/>
            <a:ext cx="201168" cy="20116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3" name="TextBox 15372"/>
          <p:cNvSpPr txBox="1"/>
          <p:nvPr/>
        </p:nvSpPr>
        <p:spPr>
          <a:xfrm>
            <a:off x="8138160" y="2880360"/>
            <a:ext cx="3520439" cy="5029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Verified passable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Arial"/>
              </a:rPr>
              <a:t>Recent evidence from an authenticated or verified source</a:t>
            </a:r>
          </a:p>
        </p:txBody>
      </p:sp>
      <p:sp>
        <p:nvSpPr>
          <p:cNvPr id="15374" name="Oval 15373"/>
          <p:cNvSpPr/>
          <p:nvPr/>
        </p:nvSpPr>
        <p:spPr>
          <a:xfrm>
            <a:off x="7818119" y="3502152"/>
            <a:ext cx="201168" cy="201168"/>
          </a:xfrm>
          <a:prstGeom prst="ellipse">
            <a:avLst/>
          </a:prstGeom>
          <a:solidFill>
            <a:srgbClr val="D9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5" name="TextBox 15374"/>
          <p:cNvSpPr txBox="1"/>
          <p:nvPr/>
        </p:nvSpPr>
        <p:spPr>
          <a:xfrm>
            <a:off x="8138160" y="3429000"/>
            <a:ext cx="3520439" cy="5029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Potential hazard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Arial"/>
              </a:rPr>
              <a:t>Hazard reported, not yet verified</a:t>
            </a:r>
          </a:p>
        </p:txBody>
      </p:sp>
      <p:sp>
        <p:nvSpPr>
          <p:cNvPr id="15376" name="Oval 15375"/>
          <p:cNvSpPr/>
          <p:nvPr/>
        </p:nvSpPr>
        <p:spPr>
          <a:xfrm>
            <a:off x="7818119" y="4050791"/>
            <a:ext cx="201168" cy="20116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7" name="TextBox 15376"/>
          <p:cNvSpPr txBox="1"/>
          <p:nvPr/>
        </p:nvSpPr>
        <p:spPr>
          <a:xfrm>
            <a:off x="8138160" y="3977640"/>
            <a:ext cx="3520439" cy="5029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Blocked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Arial"/>
              </a:rPr>
              <a:t>Confirmed; never used for routing</a:t>
            </a:r>
          </a:p>
        </p:txBody>
      </p:sp>
      <p:sp>
        <p:nvSpPr>
          <p:cNvPr id="15378" name="Oval 15377"/>
          <p:cNvSpPr/>
          <p:nvPr/>
        </p:nvSpPr>
        <p:spPr>
          <a:xfrm>
            <a:off x="7818119" y="4599431"/>
            <a:ext cx="201168" cy="201168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9" name="TextBox 15378"/>
          <p:cNvSpPr txBox="1"/>
          <p:nvPr/>
        </p:nvSpPr>
        <p:spPr>
          <a:xfrm>
            <a:off x="8138160" y="4526280"/>
            <a:ext cx="3520439" cy="5029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Unknown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Arial"/>
              </a:rPr>
              <a:t>No adequate evidence (no report is not 'open')</a:t>
            </a:r>
          </a:p>
        </p:txBody>
      </p:sp>
      <p:sp>
        <p:nvSpPr>
          <p:cNvPr id="15380" name="Oval 15379"/>
          <p:cNvSpPr/>
          <p:nvPr/>
        </p:nvSpPr>
        <p:spPr>
          <a:xfrm>
            <a:off x="7818119" y="5148071"/>
            <a:ext cx="201168" cy="201168"/>
          </a:xfrm>
          <a:prstGeom prst="ellipse">
            <a:avLst/>
          </a:prstGeom>
          <a:solidFill>
            <a:srgbClr val="6A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1" name="TextBox 15380"/>
          <p:cNvSpPr txBox="1"/>
          <p:nvPr/>
        </p:nvSpPr>
        <p:spPr>
          <a:xfrm>
            <a:off x="8138160" y="5074920"/>
            <a:ext cx="3520439" cy="5029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Stale evidence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Arial"/>
              </a:rPr>
              <a:t>Evidence older than its hazard-specific limit</a:t>
            </a:r>
          </a:p>
        </p:txBody>
      </p:sp>
      <p:sp>
        <p:nvSpPr>
          <p:cNvPr id="15382" name="Oval 15381"/>
          <p:cNvSpPr/>
          <p:nvPr/>
        </p:nvSpPr>
        <p:spPr>
          <a:xfrm>
            <a:off x="7818119" y="5696711"/>
            <a:ext cx="201168" cy="201168"/>
          </a:xfrm>
          <a:prstGeom prst="ellipse">
            <a:avLst/>
          </a:prstGeom>
          <a:solidFill>
            <a:srgbClr val="D86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3" name="TextBox 15382"/>
          <p:cNvSpPr txBox="1"/>
          <p:nvPr/>
        </p:nvSpPr>
        <p:spPr>
          <a:xfrm>
            <a:off x="8138160" y="5623559"/>
            <a:ext cx="3520439" cy="5029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Conflicting evidence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Arial"/>
              </a:rPr>
              <a:t>Reports disagree; both kept, verifier tasked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SEVA FIRST INNOVATION CHALLENGE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04681" y="1095375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[Team Name]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5526DE-1F97-47E4-1513-93A707E4E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56353"/>
            <a:ext cx="12191999" cy="503238"/>
          </a:xfrm>
          <a:prstGeom prst="rect">
            <a:avLst/>
          </a:pr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EDE8D1A2-6135-7672-5571-4678D6E4300C}"/>
              </a:ext>
            </a:extLst>
          </p:cNvPr>
          <p:cNvSpPr txBox="1">
            <a:spLocks/>
          </p:cNvSpPr>
          <p:nvPr/>
        </p:nvSpPr>
        <p:spPr>
          <a:xfrm>
            <a:off x="4504267" y="6362706"/>
            <a:ext cx="3623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SEVA FIRST INNOVATION CHALLENGE 2026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752FB3-43AC-68BE-EDC4-7DBBEFA72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132" y="-6746"/>
            <a:ext cx="1670881" cy="938080"/>
          </a:xfrm>
          <a:prstGeom prst="rect">
            <a:avLst/>
          </a:prstGeom>
        </p:spPr>
      </p:pic>
      <p:pic>
        <p:nvPicPr>
          <p:cNvPr id="13" name="Picture 12" descr="File:Ministry of Education India.svg - Wikimedia Commons">
            <a:extLst>
              <a:ext uri="{FF2B5EF4-FFF2-40B4-BE49-F238E27FC236}">
                <a16:creationId xmlns:a16="http://schemas.microsoft.com/office/drawing/2014/main" id="{037C9777-3351-36C2-1E68-898E5685D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681" y="115936"/>
            <a:ext cx="1757087" cy="815398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938528"/>
            <a:ext cx="7680960" cy="36576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2E5597"/>
                </a:solidFill>
                <a:latin typeface="Arial"/>
              </a:rPr>
              <a:t>❖ </a:t>
            </a:r>
            <a:r>
              <a:rPr sz="1400" b="1" i="0">
                <a:solidFill>
                  <a:srgbClr val="2E5597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502920" y="2331720"/>
            <a:ext cx="7406640" cy="292608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Frontend: 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React 18 + TypeScript, Vite, Tailwind CSS (responsive, keyboard-accessible)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2633472"/>
            <a:ext cx="7406640" cy="292608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Map: 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Custom SVG road-network renderer; no paid map or API keys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02920" y="2935224"/>
            <a:ext cx="7406640" cy="292608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Routing: 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Dijkstra graph engine in TypeScript: 3 modes, alternatives, last-mile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02920" y="3236976"/>
            <a:ext cx="7406640" cy="292608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Evidence: 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Rule engine: freshness, trust tiers, duplicates, conflicts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502920" y="3538728"/>
            <a:ext cx="7406640" cy="292608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Data: 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LocalStorage persistence, Service Worker offline cache, CSV export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502920" y="3840480"/>
            <a:ext cx="7406640" cy="292608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Quality: 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Vitest: 34 automated tests, 27 evaluation cases, 8 demo scenarios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02920" y="4142232"/>
            <a:ext cx="7406640" cy="292608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Hardware (opt.):  </a:t>
            </a:r>
            <a:r>
              <a:rPr sz="1200" b="0" i="0">
                <a:solidFill>
                  <a:srgbClr val="1A1A1A"/>
                </a:solidFill>
                <a:latin typeface="Arial"/>
              </a:rPr>
              <a:t>ESP32 + water-level sensor sending {sensorId, valueCm, ts} over Wi-Fi</a:t>
            </a:r>
          </a:p>
        </p:txBody>
      </p:sp>
      <p:pic>
        <p:nvPicPr>
          <p:cNvPr id="17418" name="Picture 17417" descr="prototype-dashboar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190" y="1097280"/>
            <a:ext cx="3342290" cy="3200400"/>
          </a:xfrm>
          <a:prstGeom prst="rect">
            <a:avLst/>
          </a:prstGeom>
          <a:ln>
            <a:solidFill>
              <a:srgbClr val="C9D3E3"/>
            </a:solidFill>
          </a:ln>
        </p:spPr>
      </p:pic>
      <p:sp>
        <p:nvSpPr>
          <p:cNvPr id="17419" name="TextBox 17418"/>
          <p:cNvSpPr txBox="1"/>
          <p:nvPr/>
        </p:nvSpPr>
        <p:spPr>
          <a:xfrm>
            <a:off x="8001000" y="4315968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r">
              <a:spcAft>
                <a:spcPts val="400"/>
              </a:spcAft>
            </a:pPr>
            <a:r>
              <a:rPr sz="1000" b="0" i="1">
                <a:solidFill>
                  <a:srgbClr val="595959"/>
                </a:solidFill>
                <a:latin typeface="Arial"/>
              </a:rPr>
              <a:t>Working prototype: operations dashboard (simulated data)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65760" y="4645152"/>
            <a:ext cx="11430000" cy="36576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2E5597"/>
                </a:solidFill>
                <a:latin typeface="Arial"/>
              </a:rPr>
              <a:t>❖ </a:t>
            </a:r>
            <a:r>
              <a:rPr sz="1400" b="1" i="0">
                <a:solidFill>
                  <a:srgbClr val="2E5597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320040" y="5047488"/>
            <a:ext cx="1700784" cy="1170432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374904" y="5102351"/>
            <a:ext cx="1591056" cy="1060704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Inputs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Crowd reports, field inspections, sensor readings</a:t>
            </a:r>
          </a:p>
        </p:txBody>
      </p:sp>
      <p:sp>
        <p:nvSpPr>
          <p:cNvPr id="17423" name="Right Arrow 17422"/>
          <p:cNvSpPr/>
          <p:nvPr/>
        </p:nvSpPr>
        <p:spPr>
          <a:xfrm>
            <a:off x="2057400" y="5541264"/>
            <a:ext cx="182880" cy="182880"/>
          </a:xfrm>
          <a:prstGeom prst="rightArrow">
            <a:avLst/>
          </a:prstGeom>
          <a:solidFill>
            <a:srgbClr val="E4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2276856" y="5047488"/>
            <a:ext cx="1700784" cy="1170432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2331720" y="5102351"/>
            <a:ext cx="1591056" cy="1060704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Evidence engine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Freshness · trust tier · duplicates · conflicts</a:t>
            </a:r>
          </a:p>
        </p:txBody>
      </p:sp>
      <p:sp>
        <p:nvSpPr>
          <p:cNvPr id="17426" name="Right Arrow 17425"/>
          <p:cNvSpPr/>
          <p:nvPr/>
        </p:nvSpPr>
        <p:spPr>
          <a:xfrm>
            <a:off x="4014216" y="5541264"/>
            <a:ext cx="182880" cy="182880"/>
          </a:xfrm>
          <a:prstGeom prst="rightArrow">
            <a:avLst/>
          </a:prstGeom>
          <a:solidFill>
            <a:srgbClr val="E4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4233672" y="5047488"/>
            <a:ext cx="1700784" cy="1170432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TextBox 17427"/>
          <p:cNvSpPr txBox="1"/>
          <p:nvPr/>
        </p:nvSpPr>
        <p:spPr>
          <a:xfrm>
            <a:off x="4288536" y="5102351"/>
            <a:ext cx="1591056" cy="1060704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Road status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6 statuses + “Why this status?” explanation</a:t>
            </a:r>
          </a:p>
        </p:txBody>
      </p:sp>
      <p:sp>
        <p:nvSpPr>
          <p:cNvPr id="17429" name="Right Arrow 17428"/>
          <p:cNvSpPr/>
          <p:nvPr/>
        </p:nvSpPr>
        <p:spPr>
          <a:xfrm>
            <a:off x="5971032" y="5541264"/>
            <a:ext cx="182880" cy="182880"/>
          </a:xfrm>
          <a:prstGeom prst="rightArrow">
            <a:avLst/>
          </a:prstGeom>
          <a:solidFill>
            <a:srgbClr val="E4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6190488" y="5047488"/>
            <a:ext cx="1700784" cy="1170432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TextBox 17430"/>
          <p:cNvSpPr txBox="1"/>
          <p:nvPr/>
        </p:nvSpPr>
        <p:spPr>
          <a:xfrm>
            <a:off x="6245351" y="5102351"/>
            <a:ext cx="1591056" cy="1060704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Routing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Fastest · Evidence-prioritized · Conservative</a:t>
            </a:r>
          </a:p>
        </p:txBody>
      </p:sp>
      <p:sp>
        <p:nvSpPr>
          <p:cNvPr id="17432" name="Right Arrow 17431"/>
          <p:cNvSpPr/>
          <p:nvPr/>
        </p:nvSpPr>
        <p:spPr>
          <a:xfrm>
            <a:off x="7927847" y="5541264"/>
            <a:ext cx="182880" cy="182880"/>
          </a:xfrm>
          <a:prstGeom prst="rightArrow">
            <a:avLst/>
          </a:prstGeom>
          <a:solidFill>
            <a:srgbClr val="E4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8147304" y="5047488"/>
            <a:ext cx="1700784" cy="1170432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8202168" y="5102351"/>
            <a:ext cx="1591056" cy="1060704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Decision output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Route + alternatives, or “no verified route” + meeting point</a:t>
            </a:r>
          </a:p>
        </p:txBody>
      </p:sp>
      <p:sp>
        <p:nvSpPr>
          <p:cNvPr id="17435" name="Right Arrow 17434"/>
          <p:cNvSpPr/>
          <p:nvPr/>
        </p:nvSpPr>
        <p:spPr>
          <a:xfrm>
            <a:off x="9884663" y="5541264"/>
            <a:ext cx="182880" cy="182880"/>
          </a:xfrm>
          <a:prstGeom prst="rightArrow">
            <a:avLst/>
          </a:prstGeom>
          <a:solidFill>
            <a:srgbClr val="E4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Rounded Rectangle 17435"/>
          <p:cNvSpPr/>
          <p:nvPr/>
        </p:nvSpPr>
        <p:spPr>
          <a:xfrm>
            <a:off x="10104120" y="5047488"/>
            <a:ext cx="1700784" cy="1170432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TextBox 17436"/>
          <p:cNvSpPr txBox="1"/>
          <p:nvPr/>
        </p:nvSpPr>
        <p:spPr>
          <a:xfrm>
            <a:off x="10158984" y="5102351"/>
            <a:ext cx="1591056" cy="1060704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Field verification</a:t>
            </a:r>
          </a:p>
          <a:p>
            <a:pPr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Verifier confirms; result updates graph and reroutes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SEVA FIRST INNOVATION CHALLENGE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137719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[Team Name]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5A208B-4F07-4B40-3614-A05317077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56353"/>
            <a:ext cx="12191999" cy="503238"/>
          </a:xfrm>
          <a:prstGeom prst="rect">
            <a:avLst/>
          </a:pr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201787F6-D967-496C-1B55-13DE23C3E8A2}"/>
              </a:ext>
            </a:extLst>
          </p:cNvPr>
          <p:cNvSpPr txBox="1">
            <a:spLocks/>
          </p:cNvSpPr>
          <p:nvPr/>
        </p:nvSpPr>
        <p:spPr>
          <a:xfrm>
            <a:off x="4504267" y="6362706"/>
            <a:ext cx="3623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SEVA FIRST INNOVATION CHALLENGE 2026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6107CB-BA7B-C7BC-2429-9FBC7B5C1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132" y="-6746"/>
            <a:ext cx="1670881" cy="938080"/>
          </a:xfrm>
          <a:prstGeom prst="rect">
            <a:avLst/>
          </a:prstGeom>
        </p:spPr>
      </p:pic>
      <p:pic>
        <p:nvPicPr>
          <p:cNvPr id="13" name="Picture 12" descr="File:Ministry of Education India.svg - Wikimedia Commons">
            <a:extLst>
              <a:ext uri="{FF2B5EF4-FFF2-40B4-BE49-F238E27FC236}">
                <a16:creationId xmlns:a16="http://schemas.microsoft.com/office/drawing/2014/main" id="{F5020660-CB19-03AF-5BB1-783C30200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681" y="115936"/>
            <a:ext cx="1757087" cy="815398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938528"/>
            <a:ext cx="4480560" cy="36576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2E5597"/>
                </a:solidFill>
                <a:latin typeface="Arial"/>
              </a:rPr>
              <a:t>❖ </a:t>
            </a:r>
            <a:r>
              <a:rPr sz="1400" b="1" i="0">
                <a:solidFill>
                  <a:srgbClr val="2E5597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2331720"/>
            <a:ext cx="4297680" cy="713232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566928" y="2377439"/>
            <a:ext cx="1600200" cy="621792"/>
          </a:xfrm>
          <a:prstGeom prst="rect">
            <a:avLst/>
          </a:prstGeom>
          <a:noFill/>
        </p:spPr>
        <p:txBody>
          <a:bodyPr wrap="square" anchor="ctr" lIns="36576" rIns="36576" tIns="36576" bIns="36576"/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Arial"/>
              </a:rPr>
              <a:t>Working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148840" y="2377439"/>
            <a:ext cx="2560320" cy="621792"/>
          </a:xfrm>
          <a:prstGeom prst="rect">
            <a:avLst/>
          </a:prstGeom>
          <a:noFill/>
        </p:spPr>
        <p:txBody>
          <a:bodyPr wrap="square" anchor="ctr" lIns="36576" rIns="36576" tIns="36576" bIns="36576"/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prototype built and demonstrable today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57200" y="3136391"/>
            <a:ext cx="4297680" cy="713232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566928" y="3182111"/>
            <a:ext cx="1600200" cy="621792"/>
          </a:xfrm>
          <a:prstGeom prst="rect">
            <a:avLst/>
          </a:prstGeom>
          <a:noFill/>
        </p:spPr>
        <p:txBody>
          <a:bodyPr wrap="square" anchor="ctr" lIns="36576" rIns="36576" tIns="36576" bIns="36576"/>
          <a:lstStyle/>
          <a:p>
            <a:pPr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Arial"/>
              </a:rPr>
              <a:t>₹0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2148840" y="3182111"/>
            <a:ext cx="2560320" cy="621792"/>
          </a:xfrm>
          <a:prstGeom prst="rect">
            <a:avLst/>
          </a:prstGeom>
          <a:noFill/>
        </p:spPr>
        <p:txBody>
          <a:bodyPr wrap="square" anchor="ctr" lIns="36576" rIns="36576" tIns="36576" bIns="36576"/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software licences, API keys or paid maps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3941063"/>
            <a:ext cx="4297680" cy="713232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566928" y="3986783"/>
            <a:ext cx="1600200" cy="621792"/>
          </a:xfrm>
          <a:prstGeom prst="rect">
            <a:avLst/>
          </a:prstGeom>
          <a:noFill/>
        </p:spPr>
        <p:txBody>
          <a:bodyPr wrap="square" anchor="ctr" lIns="36576" rIns="36576" tIns="36576" bIns="36576"/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Arial"/>
              </a:rPr>
              <a:t>~₹2,600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148840" y="3986783"/>
            <a:ext cx="2560320" cy="621792"/>
          </a:xfrm>
          <a:prstGeom prst="rect">
            <a:avLst/>
          </a:prstGeom>
          <a:noFill/>
        </p:spPr>
        <p:txBody>
          <a:bodyPr wrap="square" anchor="ctr" lIns="36576" rIns="36576" tIns="36576" bIns="36576"/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per optional sensor node (estimate*)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57200" y="4745736"/>
            <a:ext cx="4297680" cy="713232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566928" y="4791455"/>
            <a:ext cx="1600200" cy="621792"/>
          </a:xfrm>
          <a:prstGeom prst="rect">
            <a:avLst/>
          </a:prstGeom>
          <a:noFill/>
        </p:spPr>
        <p:txBody>
          <a:bodyPr wrap="square" anchor="ctr" lIns="36576" rIns="36576" tIns="36576" bIns="36576"/>
          <a:lstStyle/>
          <a:p>
            <a:pPr>
              <a:spcAft>
                <a:spcPts val="400"/>
              </a:spcAft>
            </a:pPr>
            <a:r>
              <a:rPr sz="2000" b="1" i="0">
                <a:solidFill>
                  <a:srgbClr val="1F3864"/>
                </a:solidFill>
                <a:latin typeface="Arial"/>
              </a:rPr>
              <a:t>27/27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2148840" y="4791455"/>
            <a:ext cx="2560320" cy="621792"/>
          </a:xfrm>
          <a:prstGeom prst="rect">
            <a:avLst/>
          </a:prstGeom>
          <a:noFill/>
        </p:spPr>
        <p:txBody>
          <a:bodyPr wrap="square" anchor="ctr" lIns="36576" rIns="36576" tIns="36576" bIns="36576"/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evaluation cases pass in the test suite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57200" y="5577840"/>
            <a:ext cx="4297680" cy="64008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Runs offline on an ordinary laptop; open-source stack; one-click Windows launcher.</a:t>
            </a:r>
          </a:p>
          <a:p>
            <a:pPr>
              <a:spcAft>
                <a:spcPts val="400"/>
              </a:spcAft>
            </a:pPr>
            <a:r>
              <a:rPr sz="950" b="0" i="1">
                <a:solidFill>
                  <a:srgbClr val="595959"/>
                </a:solidFill>
                <a:latin typeface="Arial"/>
              </a:rPr>
              <a:t>*Indicative component estimates; require supplier verification.</a:t>
            </a:r>
          </a:p>
        </p:txBody>
      </p:sp>
      <p:graphicFrame>
        <p:nvGraphicFramePr>
          <p:cNvPr id="17424" name="Table 17423"/>
          <p:cNvGraphicFramePr>
            <a:graphicFrameLocks noGrp="1"/>
          </p:cNvGraphicFramePr>
          <p:nvPr/>
        </p:nvGraphicFramePr>
        <p:xfrm>
          <a:off x="5074920" y="1938528"/>
          <a:ext cx="6766560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4251960"/>
              </a:tblGrid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Potential challenges and risks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F3864"/>
                          </a:solidFill>
                          <a:latin typeface="Arial"/>
                        </a:rPr>
                        <a:t>False or prank crowd reports</a:t>
                      </a:r>
                    </a:p>
                  </a:txBody>
                  <a:tcPr marL="73152" marR="73152" marT="36576" marB="36576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Trust tiers; anonymous reports stay unverified; duplicate detection; verification tasks</a:t>
                      </a:r>
                    </a:p>
                  </a:txBody>
                  <a:tcPr marL="73152" marR="73152" marT="36576" marB="36576" anchor="ctr">
                    <a:solidFill>
                      <a:srgbClr val="EEF2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F3864"/>
                          </a:solidFill>
                          <a:latin typeface="Arial"/>
                        </a:rPr>
                        <a:t>Outdated information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Hazard-specific expiry; stale roads flagged and queued for re-inspection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F3864"/>
                          </a:solidFill>
                          <a:latin typeface="Arial"/>
                        </a:rPr>
                        <a:t>Network loss during disasters</a:t>
                      </a:r>
                    </a:p>
                  </a:txBody>
                  <a:tcPr marL="73152" marR="73152" marT="36576" marB="36576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Offline-first: reports queued, synced later with conflict detection</a:t>
                      </a:r>
                    </a:p>
                  </a:txBody>
                  <a:tcPr marL="73152" marR="73152" marT="36576" marB="36576" anchor="ctr">
                    <a:solidFill>
                      <a:srgbClr val="EEF2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F3864"/>
                          </a:solidFill>
                          <a:latin typeface="Arial"/>
                        </a:rPr>
                        <a:t>Over-reliance on automation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Decision support only; human confirmation; never labels a route “safe”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F3864"/>
                          </a:solidFill>
                          <a:latin typeface="Arial"/>
                        </a:rPr>
                        <a:t>Sensor faults or misreadings</a:t>
                      </a:r>
                    </a:p>
                  </a:txBody>
                  <a:tcPr marL="73152" marR="73152" marT="36576" marB="36576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A sensor alone never marks a road passable; out-of-range and disconnect alerts</a:t>
                      </a:r>
                    </a:p>
                  </a:txBody>
                  <a:tcPr marL="73152" marR="73152" marT="36576" marB="36576" anchor="ctr">
                    <a:solidFill>
                      <a:srgbClr val="EEF2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F3864"/>
                          </a:solidFill>
                          <a:latin typeface="Arial"/>
                        </a:rPr>
                        <a:t>Real road data &amp; approvals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Arial"/>
                        </a:rPr>
                        <a:t>Pilot with local authority GIS / OpenStreetMap data under formal permission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SEVA FIRST INNOVATION CHALLENGE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04372" y="1081137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[Team Name]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FBA52D-865B-6F1B-CD1A-40E47531A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56353"/>
            <a:ext cx="12191999" cy="503238"/>
          </a:xfrm>
          <a:prstGeom prst="rect">
            <a:avLst/>
          </a:pr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98BBB17C-F8AF-A360-CA11-0095B0394A98}"/>
              </a:ext>
            </a:extLst>
          </p:cNvPr>
          <p:cNvSpPr txBox="1">
            <a:spLocks/>
          </p:cNvSpPr>
          <p:nvPr/>
        </p:nvSpPr>
        <p:spPr>
          <a:xfrm>
            <a:off x="4504267" y="6362706"/>
            <a:ext cx="3623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SEVA FIRST INNOVATION CHALLENGE 2026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A960D4-436F-09CE-F586-684C75F46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132" y="-6746"/>
            <a:ext cx="1670881" cy="938080"/>
          </a:xfrm>
          <a:prstGeom prst="rect">
            <a:avLst/>
          </a:prstGeom>
        </p:spPr>
      </p:pic>
      <p:pic>
        <p:nvPicPr>
          <p:cNvPr id="13" name="Picture 12" descr="File:Ministry of Education India.svg - Wikimedia Commons">
            <a:extLst>
              <a:ext uri="{FF2B5EF4-FFF2-40B4-BE49-F238E27FC236}">
                <a16:creationId xmlns:a16="http://schemas.microsoft.com/office/drawing/2014/main" id="{0867A480-B7BF-D4CD-A199-24BE6F500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681" y="115936"/>
            <a:ext cx="1757087" cy="815398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938528"/>
            <a:ext cx="5669280" cy="36576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2E5597"/>
                </a:solidFill>
                <a:latin typeface="Arial"/>
              </a:rPr>
              <a:t>❖ </a:t>
            </a:r>
            <a:r>
              <a:rPr sz="1400" b="1" i="0">
                <a:solidFill>
                  <a:srgbClr val="2E5597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502920" y="2304288"/>
            <a:ext cx="5486400" cy="14630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164592" indent="-164592"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District Emergency Operation Centres and control rooms</a:t>
            </a:r>
          </a:p>
          <a:p>
            <a:pPr marL="164592" indent="-164592"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Ambulance, fire and rescue crews (SDRF / NDRF teams)</a:t>
            </a:r>
          </a:p>
          <a:p>
            <a:pPr marL="164592" indent="-164592"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Local authorities and ward offices verifying roads</a:t>
            </a:r>
          </a:p>
          <a:p>
            <a:pPr marL="164592" indent="-164592">
              <a:spcAft>
                <a:spcPts val="3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Residents of flood- and landslide-prone areas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263640" y="1938528"/>
            <a:ext cx="5577840" cy="1874519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6446520" y="2011680"/>
            <a:ext cx="5212080" cy="292608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1F3864"/>
                </a:solidFill>
                <a:latin typeface="Arial"/>
              </a:rPr>
              <a:t>Measured in the prototype vs. a plain shortest-path baseline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446520" y="2331720"/>
            <a:ext cx="1691640" cy="5029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2400" b="1" i="0">
                <a:solidFill>
                  <a:srgbClr val="E46C0A"/>
                </a:solidFill>
                <a:latin typeface="Arial"/>
              </a:rPr>
              <a:t>4 → 0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446520" y="2834640"/>
            <a:ext cx="1645920" cy="64008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confirmed-blocked road segments routed through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8229600" y="2331720"/>
            <a:ext cx="1691640" cy="5029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2400" b="1" i="0">
                <a:solidFill>
                  <a:srgbClr val="E46C0A"/>
                </a:solidFill>
                <a:latin typeface="Arial"/>
              </a:rPr>
              <a:t>7 → 0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8229600" y="2834640"/>
            <a:ext cx="1645920" cy="64008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unverified segments on chosen routes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0012680" y="2331720"/>
            <a:ext cx="1691640" cy="5029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2400" b="1" i="0">
                <a:solidFill>
                  <a:srgbClr val="008A3E"/>
                </a:solidFill>
                <a:latin typeface="Arial"/>
              </a:rPr>
              <a:t>8 / 8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0012680" y="2834640"/>
            <a:ext cx="1645920" cy="64008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end-to-end demo scenarios pass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446520" y="3493008"/>
            <a:ext cx="530352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950" b="0" i="1">
                <a:solidFill>
                  <a:srgbClr val="595959"/>
                </a:solidFill>
                <a:latin typeface="Arial"/>
              </a:rPr>
              <a:t>11 routing test cases on simulated data; not field validation.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65760" y="3977639"/>
            <a:ext cx="11430000" cy="36576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2E5597"/>
                </a:solidFill>
                <a:latin typeface="Arial"/>
              </a:rPr>
              <a:t>❖ </a:t>
            </a:r>
            <a:r>
              <a:rPr sz="1400" b="1" i="0">
                <a:solidFill>
                  <a:srgbClr val="2E5597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11480" y="4370832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548640" y="4480560"/>
            <a:ext cx="2468880" cy="16002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Arial"/>
              </a:rPr>
              <a:t>Social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Fewer rescue vehicles sent into blocked or flooded roads; faster verified access to people in need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3310128" y="4370832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3447288" y="4480560"/>
            <a:ext cx="2468880" cy="16002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Arial"/>
              </a:rPr>
              <a:t>Economic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Zero licence cost; runs on existing laptops and phones; low-cost optional sensors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208776" y="4370832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6345936" y="4480560"/>
            <a:ext cx="2468880" cy="16002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Arial"/>
              </a:rPr>
              <a:t>Environmental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Fewer wasted detours and idle trips; reusable flood-level data for planning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9107424" y="4370832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9244584" y="4480560"/>
            <a:ext cx="2468880" cy="16002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1F3864"/>
                </a:solidFill>
                <a:latin typeface="Arial"/>
              </a:rPr>
              <a:t>Governance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Every decision explainable and logged; supports accountable, auditable response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SEVA FIRST INNOVATION CHALLENGE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72107" y="105958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[Team Name]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F75DA3-B5D7-4B73-6A11-204DBD7DC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56353"/>
            <a:ext cx="12191999" cy="503238"/>
          </a:xfrm>
          <a:prstGeom prst="rect">
            <a:avLst/>
          </a:prstGeom>
          <a:solidFill>
            <a:srgbClr val="00B05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0B9F1235-034B-03E8-1877-9E7EA272E931}"/>
              </a:ext>
            </a:extLst>
          </p:cNvPr>
          <p:cNvSpPr txBox="1">
            <a:spLocks/>
          </p:cNvSpPr>
          <p:nvPr/>
        </p:nvSpPr>
        <p:spPr>
          <a:xfrm>
            <a:off x="4504267" y="6362706"/>
            <a:ext cx="3623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SEVA FIRST INNOVATION CHALLENGE 2026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B2AE2F-CBF9-9579-88EF-AD5BFE579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132" y="-6746"/>
            <a:ext cx="1670881" cy="938080"/>
          </a:xfrm>
          <a:prstGeom prst="rect">
            <a:avLst/>
          </a:prstGeom>
        </p:spPr>
      </p:pic>
      <p:pic>
        <p:nvPicPr>
          <p:cNvPr id="13" name="Picture 12" descr="File:Ministry of Education India.svg - Wikimedia Commons">
            <a:extLst>
              <a:ext uri="{FF2B5EF4-FFF2-40B4-BE49-F238E27FC236}">
                <a16:creationId xmlns:a16="http://schemas.microsoft.com/office/drawing/2014/main" id="{5B4C2928-0D55-7815-CC78-A74A6B703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681" y="115936"/>
            <a:ext cx="1757087" cy="815398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938528"/>
            <a:ext cx="11430000" cy="36576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2E5597"/>
                </a:solidFill>
                <a:latin typeface="Arial"/>
              </a:rPr>
              <a:t>❖ </a:t>
            </a:r>
            <a:r>
              <a:rPr sz="1400" b="1" i="0">
                <a:solidFill>
                  <a:srgbClr val="2E5597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2377440"/>
            <a:ext cx="4846320" cy="324612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594360" y="2468880"/>
            <a:ext cx="4526280" cy="32004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Research basis for the design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94360" y="2834640"/>
            <a:ext cx="4526280" cy="27432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marL="164592" indent="-164592"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Consumer navigation optimises travel time from traffic data; it does not certify that a road is physically passable during floods or landslides</a:t>
            </a:r>
          </a:p>
          <a:p>
            <a:pPr marL="164592" indent="-164592"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Disaster reports are often crowd-sourced, unverified and quickly outdated, so evidence needs freshness and trust levels</a:t>
            </a:r>
          </a:p>
          <a:p>
            <a:pPr marL="164592" indent="-164592"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Emergency decisions must be explainable and auditable, so we use transparent rules, not black-box scores</a:t>
            </a:r>
          </a:p>
          <a:p>
            <a:pPr marL="164592" indent="-164592">
              <a:spcAft>
                <a:spcPts val="5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Connectivity degrades in disasters, so the system has to work offline first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532120" y="2377440"/>
            <a:ext cx="6309360" cy="384048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References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1.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NDMA, National Disaster Management Plan (2019)</a:t>
            </a:r>
            <a:r>
              <a:rPr sz="1100" b="0" i="0">
                <a:solidFill>
                  <a:srgbClr val="2E5597"/>
                </a:solidFill>
                <a:latin typeface="Arial"/>
              </a:rPr>
              <a:t>  https://ndma.gov.in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2.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NDMA, Guidelines on Management of Urban Flooding (2010)</a:t>
            </a:r>
            <a:r>
              <a:rPr sz="1100" b="0" i="0">
                <a:solidFill>
                  <a:srgbClr val="2E5597"/>
                </a:solidFill>
                <a:latin typeface="Arial"/>
              </a:rPr>
              <a:t>  https://ndma.gov.in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3.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UNDRR, Sendai Framework for Disaster Risk Reduction 2015–2030</a:t>
            </a:r>
            <a:r>
              <a:rPr sz="1100" b="0" i="0">
                <a:solidFill>
                  <a:srgbClr val="2E5597"/>
                </a:solidFill>
                <a:latin typeface="Arial"/>
              </a:rPr>
              <a:t>  https://www.undrr.org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4.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Central Water Commission, flood forecasting services</a:t>
            </a:r>
            <a:r>
              <a:rPr sz="1100" b="0" i="0">
                <a:solidFill>
                  <a:srgbClr val="2E5597"/>
                </a:solidFill>
                <a:latin typeface="Arial"/>
              </a:rPr>
              <a:t>  https://cwc.gov.in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5.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Dijkstra, E. W. (1959). A note on two problems in connexion with graphs. Numerische Mathematik 1, 269–271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6. </a:t>
            </a:r>
            <a:r>
              <a:rPr sz="1100" b="0" i="0">
                <a:solidFill>
                  <a:srgbClr val="1A1A1A"/>
                </a:solidFill>
                <a:latin typeface="Arial"/>
              </a:rPr>
              <a:t>Humanitarian OpenStreetMap Team, open map data for disaster response</a:t>
            </a:r>
            <a:r>
              <a:rPr sz="1100" b="0" i="0">
                <a:solidFill>
                  <a:srgbClr val="2E5597"/>
                </a:solidFill>
                <a:latin typeface="Arial"/>
              </a:rPr>
              <a:t>  https://www.hotosm.org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7. </a:t>
            </a:r>
            <a:r>
              <a:rPr sz="1100" b="0" i="0">
                <a:solidFill>
                  <a:srgbClr val="C00000"/>
                </a:solidFill>
                <a:latin typeface="Arial"/>
              </a:rPr>
              <a:t>[Add any other papers / articles the team consulted]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Arial"/>
              </a:rPr>
              <a:t>Prototype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Source code: </a:t>
            </a:r>
            <a:r>
              <a:rPr sz="1100" b="0" i="0">
                <a:solidFill>
                  <a:srgbClr val="C00000"/>
                </a:solidFill>
                <a:latin typeface="Arial"/>
              </a:rPr>
              <a:t>[GitHub repository URL]</a:t>
            </a:r>
          </a:p>
          <a:p>
            <a:pPr>
              <a:spcAft>
                <a:spcPts val="300"/>
              </a:spcAft>
            </a:pPr>
            <a:r>
              <a:rPr sz="1100" b="1" i="0">
                <a:solidFill>
                  <a:srgbClr val="1A1A1A"/>
                </a:solidFill>
                <a:latin typeface="Arial"/>
              </a:rPr>
              <a:t>Demo video: </a:t>
            </a:r>
            <a:r>
              <a:rPr sz="1100" b="0" i="0">
                <a:solidFill>
                  <a:srgbClr val="C00000"/>
                </a:solidFill>
                <a:latin typeface="Arial"/>
              </a:rPr>
              <a:t>[Demo video URL]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7500</TotalTime>
  <Words>370</Words>
  <Application>Microsoft Office PowerPoint</Application>
  <PresentationFormat>Widescreen</PresentationFormat>
  <Paragraphs>67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SEVA FIRST INNOVATION CHALLENGE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Ravikumar Balaraman</cp:lastModifiedBy>
  <cp:revision>151</cp:revision>
  <dcterms:created xsi:type="dcterms:W3CDTF">2013-12-12T18:46:50Z</dcterms:created>
  <dcterms:modified xsi:type="dcterms:W3CDTF">2026-10-12T09:21:17Z</dcterms:modified>
  <cp:category/>
</cp:coreProperties>
</file>